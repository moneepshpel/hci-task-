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Hci project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692943"/>
            <a:ext cx="6583680" cy="1531357"/>
          </a:xfrm>
        </p:spPr>
        <p:txBody>
          <a:bodyPr/>
          <a:lstStyle/>
          <a:p>
            <a:r>
              <a:rPr lang="en-US" dirty="0"/>
              <a:t>team members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8" y="2500343"/>
            <a:ext cx="6583680" cy="3207344"/>
          </a:xfrm>
        </p:spPr>
        <p:txBody>
          <a:bodyPr/>
          <a:lstStyle/>
          <a:p>
            <a:pPr marL="457200" indent="-457200">
              <a:buAutoNum type="arabicParenR"/>
            </a:pPr>
            <a:r>
              <a:rPr lang="en-US" dirty="0"/>
              <a:t>Monib Abdel Fattah Fathy Shibl ( 2023230)</a:t>
            </a:r>
          </a:p>
          <a:p>
            <a:r>
              <a:rPr lang="en-US" dirty="0"/>
              <a:t>2) Karim Arafat Mohamed Aboura (2023156)</a:t>
            </a:r>
          </a:p>
          <a:p>
            <a:r>
              <a:rPr lang="en-US" dirty="0"/>
              <a:t>3) Zeyad Medhat Fathy Elserngawy (2023095)</a:t>
            </a:r>
          </a:p>
          <a:p>
            <a:r>
              <a:rPr lang="en-US" dirty="0"/>
              <a:t>4)</a:t>
            </a:r>
            <a:r>
              <a:rPr lang="ar-EG" dirty="0"/>
              <a:t> </a:t>
            </a:r>
            <a:r>
              <a:rPr lang="en-US" dirty="0"/>
              <a:t>Amr Ahmed Aboulfotouh Shibl </a:t>
            </a:r>
            <a:r>
              <a:rPr lang="ar-EG" dirty="0"/>
              <a:t>)</a:t>
            </a:r>
            <a:r>
              <a:rPr lang="en-US" dirty="0"/>
              <a:t>2023144)</a:t>
            </a:r>
          </a:p>
          <a:p>
            <a:r>
              <a:rPr lang="en-US" b="1" dirty="0">
                <a:solidFill>
                  <a:srgbClr val="FF0000"/>
                </a:solidFill>
              </a:rPr>
              <a:t>Our Project : Spotify Redesign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149177-DE62-1037-B03A-2A50F0381714}"/>
              </a:ext>
            </a:extLst>
          </p:cNvPr>
          <p:cNvSpPr/>
          <p:nvPr/>
        </p:nvSpPr>
        <p:spPr>
          <a:xfrm>
            <a:off x="2428568" y="68826"/>
            <a:ext cx="4513006" cy="65876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Spotify Login Page Before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EF7876-FB7F-3563-59DF-079065A9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" y="914400"/>
            <a:ext cx="5154304" cy="5407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AC7FD-0DD4-2515-1432-0E8D82EE7228}"/>
              </a:ext>
            </a:extLst>
          </p:cNvPr>
          <p:cNvSpPr txBox="1"/>
          <p:nvPr/>
        </p:nvSpPr>
        <p:spPr>
          <a:xfrm>
            <a:off x="5272291" y="1419285"/>
            <a:ext cx="56142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Problems in login page:</a:t>
            </a:r>
          </a:p>
          <a:p>
            <a:r>
              <a:rPr lang="en-US" dirty="0"/>
              <a:t> </a:t>
            </a:r>
            <a:r>
              <a:rPr lang="en-US" sz="2400" b="1" dirty="0"/>
              <a:t>Overpowering primary button:  </a:t>
            </a:r>
          </a:p>
          <a:p>
            <a:r>
              <a:rPr lang="en-US" dirty="0"/>
              <a:t>  </a:t>
            </a:r>
            <a:r>
              <a:rPr lang="en-US" sz="2000" dirty="0"/>
              <a:t>The “Continue” button dominates the interface</a:t>
            </a:r>
          </a:p>
          <a:p>
            <a:r>
              <a:rPr lang="en-US" sz="2400" b="1" dirty="0"/>
              <a:t>Too many equal login options :</a:t>
            </a:r>
          </a:p>
          <a:p>
            <a:r>
              <a:rPr lang="en-US" sz="2000" dirty="0"/>
              <a:t>  Causes cognitive overload with no clear priority</a:t>
            </a:r>
          </a:p>
          <a:p>
            <a:r>
              <a:rPr lang="en-US" sz="2000" dirty="0"/>
              <a:t> </a:t>
            </a:r>
            <a:r>
              <a:rPr lang="en-US" sz="2400" b="1" dirty="0"/>
              <a:t>Weak “or” separation  </a:t>
            </a:r>
          </a:p>
          <a:p>
            <a:r>
              <a:rPr lang="en-US" sz="2000" dirty="0"/>
              <a:t>  Low contrast makes alternatives easy to miss.</a:t>
            </a:r>
          </a:p>
          <a:p>
            <a:r>
              <a:rPr lang="en-US" sz="2400" b="1" dirty="0"/>
              <a:t>No input guidance  </a:t>
            </a:r>
          </a:p>
          <a:p>
            <a:r>
              <a:rPr lang="en-US" sz="2000" dirty="0"/>
              <a:t>  Missing placeholders or examples.</a:t>
            </a:r>
          </a:p>
          <a:p>
            <a:r>
              <a:rPr lang="en-US" sz="2400" b="1" dirty="0"/>
              <a:t>Low visibility of Sign-up link:  </a:t>
            </a:r>
          </a:p>
          <a:p>
            <a:r>
              <a:rPr lang="en-US" sz="2000" dirty="0"/>
              <a:t>  Hard for new users to notice.</a:t>
            </a:r>
          </a:p>
          <a:p>
            <a:r>
              <a:rPr lang="en-US" sz="2400" b="1" dirty="0"/>
              <a:t>No instant feedback  </a:t>
            </a:r>
          </a:p>
          <a:p>
            <a:r>
              <a:rPr lang="en-US" sz="2000" dirty="0"/>
              <a:t>  No real-time validation or error messages.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43A3DF7-CA8C-F815-97C6-675A2B0BB7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723" r="1723"/>
          <a:stretch>
            <a:fillRect/>
          </a:stretch>
        </p:blipFill>
        <p:spPr/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8D7E125-CF5A-6989-14E2-B1320FB4AEF4}"/>
              </a:ext>
            </a:extLst>
          </p:cNvPr>
          <p:cNvSpPr txBox="1"/>
          <p:nvPr/>
        </p:nvSpPr>
        <p:spPr>
          <a:xfrm>
            <a:off x="589264" y="410780"/>
            <a:ext cx="6567948" cy="743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Improvements in Login Page Before:</a:t>
            </a:r>
          </a:p>
          <a:p>
            <a:r>
              <a:rPr lang="en-US" sz="1500" b="1" dirty="0"/>
              <a:t>Balanced visual hierarchy that doesn't intimidate users:</a:t>
            </a:r>
          </a:p>
          <a:p>
            <a:r>
              <a:rPr lang="en-US" sz="1500" dirty="0"/>
              <a:t>Replaced with appropriately sized "Log In" button.</a:t>
            </a:r>
          </a:p>
          <a:p>
            <a:r>
              <a:rPr lang="en-US" sz="1500" dirty="0"/>
              <a:t>Positioned logically below the password field.</a:t>
            </a:r>
          </a:p>
          <a:p>
            <a:r>
              <a:rPr lang="en-US" sz="1500" dirty="0"/>
              <a:t>Integrated naturally within the form flow.</a:t>
            </a:r>
          </a:p>
          <a:p>
            <a:r>
              <a:rPr lang="en-US" sz="1500" b="1" dirty="0"/>
              <a:t>Guided user flow with reduced cognitive load:</a:t>
            </a:r>
          </a:p>
          <a:p>
            <a:r>
              <a:rPr lang="en-US" sz="1500" dirty="0"/>
              <a:t>Established clear primary path: Email/Password form</a:t>
            </a:r>
          </a:p>
          <a:p>
            <a:r>
              <a:rPr lang="en-US" sz="1500" dirty="0"/>
              <a:t>Demoted social/phone logins to secondary options</a:t>
            </a:r>
          </a:p>
          <a:p>
            <a:r>
              <a:rPr lang="en-US" sz="1500" dirty="0"/>
              <a:t>Structured hierarchy:</a:t>
            </a:r>
          </a:p>
          <a:p>
            <a:pPr lvl="1"/>
            <a:r>
              <a:rPr lang="en-US" sz="1500" b="1" dirty="0"/>
              <a:t>Primary</a:t>
            </a:r>
            <a:r>
              <a:rPr lang="en-US" sz="1500" dirty="0"/>
              <a:t>: Email &amp; Password fields → "Log In" button</a:t>
            </a:r>
          </a:p>
          <a:p>
            <a:pPr lvl="1"/>
            <a:r>
              <a:rPr lang="en-US" sz="1500" b="1" dirty="0"/>
              <a:t>Secondary</a:t>
            </a:r>
            <a:r>
              <a:rPr lang="en-US" sz="1500" dirty="0"/>
              <a:t>: "OR" separator → Social login button</a:t>
            </a:r>
          </a:p>
          <a:p>
            <a:r>
              <a:rPr lang="en-US" sz="1500" b="1" dirty="0"/>
              <a:t>Better visual distinction between different login methods:</a:t>
            </a:r>
          </a:p>
          <a:p>
            <a:r>
              <a:rPr lang="en-US" sz="1500" dirty="0"/>
              <a:t>Clear "OR" divider with horizontal lines</a:t>
            </a:r>
          </a:p>
          <a:p>
            <a:r>
              <a:rPr lang="en-US" sz="1500" dirty="0"/>
              <a:t>Strategically placed between primary form and secondary options</a:t>
            </a:r>
          </a:p>
          <a:p>
            <a:r>
              <a:rPr lang="en-US" sz="1500" dirty="0"/>
              <a:t>Logical positioning reinforces information hierarchy</a:t>
            </a:r>
          </a:p>
          <a:p>
            <a:r>
              <a:rPr lang="en-US" sz="1500" b="1" dirty="0"/>
              <a:t>Clear expectations and immediate feedback:</a:t>
            </a:r>
          </a:p>
          <a:p>
            <a:r>
              <a:rPr lang="en-US" sz="1500" dirty="0"/>
              <a:t>Added </a:t>
            </a:r>
            <a:r>
              <a:rPr lang="en-US" sz="1500" b="1" dirty="0"/>
              <a:t>in-field placeholder text</a:t>
            </a:r>
            <a:r>
              <a:rPr lang="en-US" sz="1500" dirty="0"/>
              <a:t>:</a:t>
            </a:r>
          </a:p>
          <a:p>
            <a:pPr lvl="1"/>
            <a:r>
              <a:rPr lang="en-US" sz="1500" dirty="0"/>
              <a:t>"name@domain.com" in email field</a:t>
            </a:r>
          </a:p>
          <a:p>
            <a:pPr lvl="1"/>
            <a:r>
              <a:rPr lang="en-US" sz="1500" dirty="0"/>
              <a:t>"Enter your password" in password field</a:t>
            </a:r>
          </a:p>
          <a:p>
            <a:r>
              <a:rPr lang="en-US" sz="1500" b="1" dirty="0"/>
              <a:t>Proactive validation messages</a:t>
            </a:r>
            <a:r>
              <a:rPr lang="en-US" sz="1500" dirty="0"/>
              <a:t> (in final version):</a:t>
            </a:r>
          </a:p>
          <a:p>
            <a:pPr lvl="1"/>
            <a:r>
              <a:rPr lang="en-US" sz="1500" dirty="0"/>
              <a:t>① "Email is required"</a:t>
            </a:r>
          </a:p>
          <a:p>
            <a:pPr lvl="1"/>
            <a:r>
              <a:rPr lang="en-US" sz="1500" dirty="0"/>
              <a:t>② "Password is required“</a:t>
            </a:r>
          </a:p>
          <a:p>
            <a:pPr lvl="1"/>
            <a:r>
              <a:rPr lang="en-US" sz="1500" b="1" dirty="0"/>
              <a:t>More discoverable and compelling conversion path:</a:t>
            </a:r>
          </a:p>
          <a:p>
            <a:r>
              <a:rPr lang="en-US" sz="1600" dirty="0"/>
              <a:t>Clear call-to-action: "Don't have an account? </a:t>
            </a:r>
            <a:r>
              <a:rPr lang="en-US" sz="1600" b="1" dirty="0"/>
              <a:t>Sign up for Spotify</a:t>
            </a:r>
            <a:r>
              <a:rPr lang="en-US" sz="1600" dirty="0"/>
              <a:t>"</a:t>
            </a:r>
          </a:p>
          <a:p>
            <a:r>
              <a:rPr lang="en-US" sz="1600" dirty="0"/>
              <a:t>Full sentence structure</a:t>
            </a:r>
          </a:p>
          <a:p>
            <a:r>
              <a:rPr lang="en-US" sz="1600" dirty="0"/>
              <a:t>Likely bold or linked styling for action text</a:t>
            </a:r>
          </a:p>
          <a:p>
            <a:r>
              <a:rPr lang="en-US" sz="1600" dirty="0"/>
              <a:t>Conventional placement at form bottom</a:t>
            </a:r>
          </a:p>
          <a:p>
            <a:pPr lvl="1"/>
            <a:endParaRPr lang="en-US" sz="1400" b="1" dirty="0"/>
          </a:p>
          <a:p>
            <a:pPr lvl="1"/>
            <a:endParaRPr lang="en-US" sz="1600" b="1" dirty="0"/>
          </a:p>
          <a:p>
            <a:endParaRPr lang="en-US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F0C6A7-4F24-F620-0655-23DEB737FC93}"/>
              </a:ext>
            </a:extLst>
          </p:cNvPr>
          <p:cNvSpPr/>
          <p:nvPr/>
        </p:nvSpPr>
        <p:spPr>
          <a:xfrm>
            <a:off x="3392831" y="44703"/>
            <a:ext cx="3903407" cy="692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Profile Menu before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DFAAFB-064A-64F7-B74C-2E1A5EC4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084" y="0"/>
            <a:ext cx="3814916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C0234F-E88F-2AD8-EAC3-33BC960D65F8}"/>
              </a:ext>
            </a:extLst>
          </p:cNvPr>
          <p:cNvSpPr txBox="1"/>
          <p:nvPr/>
        </p:nvSpPr>
        <p:spPr>
          <a:xfrm>
            <a:off x="2665243" y="850030"/>
            <a:ext cx="556435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Problems in Profile Menu:</a:t>
            </a:r>
          </a:p>
          <a:p>
            <a:r>
              <a:rPr lang="en-US" sz="1700" b="1" dirty="0"/>
              <a:t>1) profile picture :</a:t>
            </a:r>
          </a:p>
          <a:p>
            <a:r>
              <a:rPr lang="en-US" sz="1700" dirty="0"/>
              <a:t>The profile picture was small and placed in the top corner of the screen, which gave it limited visual importance.</a:t>
            </a:r>
          </a:p>
          <a:p>
            <a:r>
              <a:rPr lang="en-US" sz="1700" b="1" dirty="0"/>
              <a:t>2) Account Switching:</a:t>
            </a:r>
          </a:p>
          <a:p>
            <a:r>
              <a:rPr lang="en-US" sz="1700" dirty="0"/>
              <a:t>User accounts were displayed in a simple layout, and the “Add Account” option was not visually clear or emphasized.</a:t>
            </a:r>
          </a:p>
          <a:p>
            <a:r>
              <a:rPr lang="en-US" sz="1700" b="1" dirty="0"/>
              <a:t>3) Navigation Style:</a:t>
            </a:r>
          </a:p>
          <a:p>
            <a:r>
              <a:rPr lang="en-US" sz="1700" dirty="0"/>
              <a:t>The page relied on a text-based vertical list, which felt visually heavy and required more reading.</a:t>
            </a:r>
          </a:p>
          <a:p>
            <a:r>
              <a:rPr lang="en-US" sz="1700" b="1" dirty="0"/>
              <a:t>4) Visual Hierarchy:</a:t>
            </a:r>
          </a:p>
          <a:p>
            <a:r>
              <a:rPr lang="en-US" sz="1700" dirty="0"/>
              <a:t>Most elements had similar visual weight, making it difficult for users to understand what is most important.</a:t>
            </a:r>
          </a:p>
          <a:p>
            <a:r>
              <a:rPr lang="en-US" sz="1700" b="1" dirty="0"/>
              <a:t>5) Call to Action (New Message):</a:t>
            </a:r>
          </a:p>
          <a:p>
            <a:r>
              <a:rPr lang="en-US" sz="1700" dirty="0"/>
              <a:t>The “New Message” option existed but was not visually prominent.</a:t>
            </a:r>
          </a:p>
          <a:p>
            <a:r>
              <a:rPr lang="en-US" sz="1700" b="1" dirty="0"/>
              <a:t>6) Profile Background Before:</a:t>
            </a:r>
          </a:p>
          <a:p>
            <a:r>
              <a:rPr lang="en-US" sz="1700" dirty="0"/>
              <a:t> -Traditional color: It overlaps with the page icons and prevents them from separating from the background.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B33B4-59FE-E1EE-6780-B6A59D34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219" y="0"/>
            <a:ext cx="352978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B9ABB1-E645-913B-10DD-8BE1E45619A4}"/>
              </a:ext>
            </a:extLst>
          </p:cNvPr>
          <p:cNvSpPr txBox="1"/>
          <p:nvPr/>
        </p:nvSpPr>
        <p:spPr>
          <a:xfrm>
            <a:off x="3529781" y="137652"/>
            <a:ext cx="504394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Improvements in profile menu :</a:t>
            </a:r>
          </a:p>
          <a:p>
            <a:pPr marL="342900" indent="-342900">
              <a:buAutoNum type="arabicParenR"/>
            </a:pPr>
            <a:r>
              <a:rPr lang="en-US" b="1" dirty="0"/>
              <a:t>profile picture after :</a:t>
            </a:r>
          </a:p>
          <a:p>
            <a:r>
              <a:rPr lang="en-US" dirty="0"/>
              <a:t>The profile picture is centered on the screen and displayed in a larger size, making it the main focal point of the interface. </a:t>
            </a:r>
          </a:p>
          <a:p>
            <a:r>
              <a:rPr lang="en-US" b="1" dirty="0"/>
              <a:t>Impact :</a:t>
            </a:r>
          </a:p>
          <a:p>
            <a:r>
              <a:rPr lang="en-US" dirty="0"/>
              <a:t>This strengthens the user’s identity and makes the page feel more personal and user-centered.</a:t>
            </a:r>
          </a:p>
          <a:p>
            <a:r>
              <a:rPr lang="en-US" b="1" dirty="0"/>
              <a:t>2) Account Switching after :</a:t>
            </a:r>
          </a:p>
          <a:p>
            <a:r>
              <a:rPr lang="en-US" dirty="0"/>
              <a:t>Accounts are grouped under a clear “Your Accounts” section and presented as circular icons, with a visible and accessible Add Account (+) button.</a:t>
            </a:r>
          </a:p>
          <a:p>
            <a:r>
              <a:rPr lang="en-US" b="1" dirty="0"/>
              <a:t>Impact :</a:t>
            </a:r>
          </a:p>
          <a:p>
            <a:r>
              <a:rPr lang="en-US" dirty="0"/>
              <a:t>Account switching becomes faster, clearer, and more intuitive.</a:t>
            </a:r>
          </a:p>
          <a:p>
            <a:r>
              <a:rPr lang="en-US" dirty="0"/>
              <a:t>3) Navigation Style after :</a:t>
            </a:r>
          </a:p>
          <a:p>
            <a:r>
              <a:rPr lang="en-US" dirty="0"/>
              <a:t>Navigation options are redesigned as clean, circular icons with short labels, evenly spaced for easy interaction.</a:t>
            </a:r>
          </a:p>
          <a:p>
            <a:r>
              <a:rPr lang="en-US" b="1" dirty="0"/>
              <a:t>Impact:</a:t>
            </a:r>
          </a:p>
          <a:p>
            <a:r>
              <a:rPr lang="en-US" dirty="0"/>
              <a:t>This reduces cognitive load and improves ease of use, especially on mobile devices.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9609BD-B6A6-F0E5-CF7E-352232AE77F3}"/>
              </a:ext>
            </a:extLst>
          </p:cNvPr>
          <p:cNvSpPr txBox="1"/>
          <p:nvPr/>
        </p:nvSpPr>
        <p:spPr>
          <a:xfrm>
            <a:off x="98324" y="258097"/>
            <a:ext cx="879003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Improvements:</a:t>
            </a:r>
          </a:p>
          <a:p>
            <a:r>
              <a:rPr lang="en-US" sz="1600" b="1" dirty="0"/>
              <a:t>4) Visual Hierarch after:</a:t>
            </a:r>
          </a:p>
          <a:p>
            <a:r>
              <a:rPr lang="en-US" sz="1600" dirty="0"/>
              <a:t>A clear visual hierarchy is created : </a:t>
            </a:r>
          </a:p>
          <a:p>
            <a:r>
              <a:rPr lang="en-US" sz="1600" dirty="0"/>
              <a:t>Profile picture</a:t>
            </a:r>
          </a:p>
          <a:p>
            <a:r>
              <a:rPr lang="en-US" sz="1600" dirty="0"/>
              <a:t>User name and account type</a:t>
            </a:r>
          </a:p>
          <a:p>
            <a:r>
              <a:rPr lang="en-US" sz="1600" dirty="0"/>
              <a:t>Accounts section</a:t>
            </a:r>
          </a:p>
          <a:p>
            <a:r>
              <a:rPr lang="en-US" sz="1600" dirty="0"/>
              <a:t>Navigation icon</a:t>
            </a:r>
          </a:p>
          <a:p>
            <a:r>
              <a:rPr lang="en-US" sz="1600" dirty="0"/>
              <a:t>Call-to-action button</a:t>
            </a:r>
          </a:p>
          <a:p>
            <a:r>
              <a:rPr lang="en-US" sz="1600" b="1" dirty="0"/>
              <a:t>Impact:</a:t>
            </a:r>
          </a:p>
          <a:p>
            <a:r>
              <a:rPr lang="en-US" sz="1600" dirty="0"/>
              <a:t>Users can scan the page naturally from top to bottom with better focus and clarity.</a:t>
            </a:r>
            <a:endParaRPr lang="en-US" sz="1600" b="1" dirty="0">
              <a:solidFill>
                <a:srgbClr val="FF0000"/>
              </a:solidFill>
            </a:endParaRPr>
          </a:p>
          <a:p>
            <a:r>
              <a:rPr lang="en-US" sz="1600" b="1" dirty="0"/>
              <a:t>Call to Action (New Message) after :</a:t>
            </a:r>
          </a:p>
          <a:p>
            <a:r>
              <a:rPr lang="en-US" sz="1600" dirty="0"/>
              <a:t>It is redesigned as a clear button, placed at the bottom of the screen and highlighted using Spotify’s accent color .</a:t>
            </a:r>
          </a:p>
          <a:p>
            <a:r>
              <a:rPr lang="en-US" sz="1600" b="1" dirty="0"/>
              <a:t>Impact :</a:t>
            </a:r>
          </a:p>
          <a:p>
            <a:r>
              <a:rPr lang="en-US" sz="1600" dirty="0"/>
              <a:t>This encourages interaction and makes the action easier to discover.</a:t>
            </a:r>
          </a:p>
          <a:p>
            <a:r>
              <a:rPr lang="en-US" sz="1600" b="1" dirty="0"/>
              <a:t>Profile Background after :</a:t>
            </a:r>
          </a:p>
          <a:p>
            <a:r>
              <a:rPr lang="en-US" sz="1600" b="1" dirty="0"/>
              <a:t>- </a:t>
            </a:r>
            <a:r>
              <a:rPr lang="en-US" sz="1600" dirty="0"/>
              <a:t>Changing the page background color to a modern color that provides good reflection when viewed.</a:t>
            </a:r>
          </a:p>
          <a:p>
            <a:r>
              <a:rPr lang="en-US" sz="1600" b="1" dirty="0"/>
              <a:t> - Impact:</a:t>
            </a:r>
          </a:p>
          <a:p>
            <a:r>
              <a:rPr lang="en-US" sz="1600" b="1" dirty="0"/>
              <a:t>  - </a:t>
            </a:r>
            <a:r>
              <a:rPr lang="en-US" sz="1600" dirty="0"/>
              <a:t>The icons being independent of the background helps improve visual perception.</a:t>
            </a:r>
          </a:p>
          <a:p>
            <a:r>
              <a:rPr lang="en-US" sz="1600" b="1" dirty="0"/>
              <a:t>Result :</a:t>
            </a:r>
          </a:p>
          <a:p>
            <a:r>
              <a:rPr lang="en-US" sz="1600" dirty="0"/>
              <a:t>A cleaner, smoother, and more user-friendly interface without changing the original functionality.</a:t>
            </a:r>
          </a:p>
          <a:p>
            <a:r>
              <a:rPr lang="en-US" sz="1600" dirty="0"/>
              <a:t>“ The redesign preserves all original content while improving visual hierarchy, navigation clarity, and user focus, resulting in a smoother and more intuitive user experience.”</a:t>
            </a:r>
          </a:p>
          <a:p>
            <a:endParaRPr lang="en-US" sz="1600" b="1" dirty="0"/>
          </a:p>
          <a:p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4F4AF0-0DA8-D2C4-F40A-F36D45E4D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322" y="1"/>
            <a:ext cx="3584227" cy="67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DBE5AF-EC7D-790E-B2E4-9000D7AB6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533" y="0"/>
            <a:ext cx="3166467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C252417-E3EB-E56A-42FD-C21C09E1E4CD}"/>
              </a:ext>
            </a:extLst>
          </p:cNvPr>
          <p:cNvSpPr txBox="1"/>
          <p:nvPr/>
        </p:nvSpPr>
        <p:spPr>
          <a:xfrm>
            <a:off x="550606" y="1218969"/>
            <a:ext cx="83672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Problems in this page :</a:t>
            </a:r>
          </a:p>
          <a:p>
            <a:pPr marL="342900" indent="-342900">
              <a:buAutoNum type="arabicPeriod"/>
            </a:pPr>
            <a:r>
              <a:rPr lang="en-US" sz="2400" dirty="0"/>
              <a:t>The play button size is relatively small compared to the other elements.</a:t>
            </a:r>
          </a:p>
          <a:p>
            <a:pPr marL="342900" indent="-342900">
              <a:buAutoNum type="arabicPeriod"/>
            </a:pPr>
            <a:r>
              <a:rPr lang="en-US" sz="2400" dirty="0"/>
              <a:t>The ability to move the song to a specific section is weak due to the small size of the song bar.</a:t>
            </a:r>
          </a:p>
          <a:p>
            <a:pPr marL="342900" indent="-342900">
              <a:buAutoNum type="arabicPeriod"/>
            </a:pPr>
            <a:r>
              <a:rPr lang="en-US" sz="2400" dirty="0"/>
              <a:t>Displaying the song name in English only makes it harder to find.</a:t>
            </a:r>
          </a:p>
          <a:p>
            <a:pPr marL="342900" indent="-342900">
              <a:buAutoNum type="arabicPeriod"/>
            </a:pPr>
            <a:r>
              <a:rPr lang="en-US" sz="2400" dirty="0"/>
              <a:t>Having more than one button on the screen performing the same function makes the interface crowded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605624" y="692943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B9FFD3-D8DB-05E7-8704-474D2AC2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535" y="0"/>
            <a:ext cx="3451363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CE775B-F894-7DF1-34BD-B08DD0E68812}"/>
              </a:ext>
            </a:extLst>
          </p:cNvPr>
          <p:cNvSpPr txBox="1"/>
          <p:nvPr/>
        </p:nvSpPr>
        <p:spPr>
          <a:xfrm>
            <a:off x="452284" y="845574"/>
            <a:ext cx="80132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Improvements :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1.We increased the icon size, making it clearer and easier to use.</a:t>
            </a:r>
          </a:p>
          <a:p>
            <a:r>
              <a:rPr lang="en-US" sz="2400" b="1" dirty="0"/>
              <a:t>2. We enlarged the music bar to make it easier to control.</a:t>
            </a:r>
          </a:p>
          <a:p>
            <a:r>
              <a:rPr lang="en-US" sz="2400" b="1" dirty="0"/>
              <a:t>3. The song name was written in both Arabic and English to make it easier to find the song.</a:t>
            </a:r>
          </a:p>
          <a:p>
            <a:r>
              <a:rPr lang="en-US" sz="2400" b="1" dirty="0"/>
              <a:t>4. Some icons were removed because alternative options provide the same functionality, and to make the overall design more visually comfortable.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4C4F92-618D-112C-C0C2-4A91710F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9033" y="0"/>
            <a:ext cx="3342968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4F228A-A137-008F-B05B-A809BEA24D9A}"/>
              </a:ext>
            </a:extLst>
          </p:cNvPr>
          <p:cNvSpPr txBox="1"/>
          <p:nvPr/>
        </p:nvSpPr>
        <p:spPr>
          <a:xfrm>
            <a:off x="1544136" y="302359"/>
            <a:ext cx="684325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Problems in this page :</a:t>
            </a:r>
          </a:p>
          <a:p>
            <a:pPr marL="342900" indent="-342900">
              <a:buAutoNum type="arabicPeriod"/>
            </a:pPr>
            <a:r>
              <a:rPr lang="en-US" sz="2400" b="1" dirty="0"/>
              <a:t>Navigation Bar (Bottom Bar) :</a:t>
            </a:r>
          </a:p>
          <a:p>
            <a:r>
              <a:rPr lang="en-US" sz="2400" dirty="0"/>
              <a:t>Background color was pure black. </a:t>
            </a:r>
          </a:p>
          <a:p>
            <a:r>
              <a:rPr lang="en-US" sz="2400" dirty="0"/>
              <a:t>  Icons were visually merged with the background.  </a:t>
            </a:r>
          </a:p>
          <a:p>
            <a:r>
              <a:rPr lang="en-US" sz="2400" dirty="0"/>
              <a:t> Active state was not clearly separated.</a:t>
            </a:r>
          </a:p>
          <a:p>
            <a:r>
              <a:rPr lang="en-US" sz="2400" b="1" dirty="0"/>
              <a:t>2. Visual Comfort :</a:t>
            </a:r>
          </a:p>
          <a:p>
            <a:r>
              <a:rPr lang="en-US" sz="2400" dirty="0"/>
              <a:t> Heavy use of pure black caused eye strain during long usage.   Sections blended together visually.</a:t>
            </a:r>
          </a:p>
          <a:p>
            <a:r>
              <a:rPr lang="en-US" sz="2400" b="1" dirty="0"/>
              <a:t>3. Icons &amp; Interaction Clarity :</a:t>
            </a:r>
          </a:p>
          <a:p>
            <a:r>
              <a:rPr lang="en-US" sz="2400" dirty="0"/>
              <a:t>Icons appeared flat and less noticeable.  </a:t>
            </a:r>
          </a:p>
          <a:p>
            <a:r>
              <a:rPr lang="en-US" sz="2400" dirty="0"/>
              <a:t> Navigation felt less interactive. </a:t>
            </a:r>
          </a:p>
          <a:p>
            <a:r>
              <a:rPr lang="en-US" sz="2400" b="1" dirty="0"/>
              <a:t>4. Visual Hierarchy :</a:t>
            </a:r>
          </a:p>
          <a:p>
            <a:r>
              <a:rPr lang="en-US" sz="2400" dirty="0"/>
              <a:t>Bottom navigation bar did not stand out as a separate component.</a:t>
            </a:r>
          </a:p>
          <a:p>
            <a:r>
              <a:rPr lang="en-US" sz="2400" b="1" dirty="0"/>
              <a:t>5. UI Consistency:</a:t>
            </a:r>
          </a:p>
          <a:p>
            <a:r>
              <a:rPr lang="en-US" sz="2400" dirty="0"/>
              <a:t>Navigation bar blended into the main background.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AF857E-8DBD-808F-61F6-BAB28B3C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64" y="0"/>
            <a:ext cx="3721509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C8EAA2-C282-1F06-D085-5176BB2929E5}"/>
              </a:ext>
            </a:extLst>
          </p:cNvPr>
          <p:cNvSpPr txBox="1"/>
          <p:nvPr/>
        </p:nvSpPr>
        <p:spPr>
          <a:xfrm>
            <a:off x="1644917" y="462114"/>
            <a:ext cx="6803922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Improvements :</a:t>
            </a:r>
          </a:p>
          <a:p>
            <a:r>
              <a:rPr lang="en-US" b="1" dirty="0"/>
              <a:t>Navigation Bar (Bottom Bar):</a:t>
            </a:r>
          </a:p>
          <a:p>
            <a:r>
              <a:rPr lang="en-US" dirty="0"/>
              <a:t>Background color changed to dark gray to differentiate it from the main screen.  </a:t>
            </a:r>
          </a:p>
          <a:p>
            <a:r>
              <a:rPr lang="en-US" dirty="0"/>
              <a:t> Navigation icons are visually separated from the background.   Active icon (Home) is highlighted with green color for better visibility.  </a:t>
            </a:r>
          </a:p>
          <a:p>
            <a:r>
              <a:rPr lang="en-US" dirty="0"/>
              <a:t> Improved contrast makes navigation clearer and easier to use.</a:t>
            </a:r>
          </a:p>
          <a:p>
            <a:r>
              <a:rPr lang="en-US" b="1" dirty="0"/>
              <a:t>Visual comfort :</a:t>
            </a:r>
          </a:p>
          <a:p>
            <a:r>
              <a:rPr lang="en-US" dirty="0"/>
              <a:t>Dark gray tones reduce eye fatigue. </a:t>
            </a:r>
          </a:p>
          <a:p>
            <a:r>
              <a:rPr lang="en-US" dirty="0"/>
              <a:t>Better contrast between sections and navigation bar. </a:t>
            </a:r>
          </a:p>
          <a:p>
            <a:r>
              <a:rPr lang="en-US" dirty="0"/>
              <a:t>Clear visual separation improves overall comfort.</a:t>
            </a:r>
          </a:p>
          <a:p>
            <a:r>
              <a:rPr lang="en-US" b="1" dirty="0"/>
              <a:t>Icons &amp; Interaction Clarity :</a:t>
            </a:r>
          </a:p>
          <a:p>
            <a:r>
              <a:rPr lang="en-US" dirty="0"/>
              <a:t>Icons are more readable and feel clickable.</a:t>
            </a:r>
          </a:p>
          <a:p>
            <a:r>
              <a:rPr lang="en-US" dirty="0"/>
              <a:t>Clear distinction between active and inactive states. </a:t>
            </a:r>
          </a:p>
          <a:p>
            <a:r>
              <a:rPr lang="en-US" dirty="0"/>
              <a:t>Better user feedback when navigating.</a:t>
            </a:r>
          </a:p>
          <a:p>
            <a:r>
              <a:rPr lang="en-US" b="1" dirty="0"/>
              <a:t>Visual Hierarchy :</a:t>
            </a:r>
          </a:p>
          <a:p>
            <a:r>
              <a:rPr lang="en-US" dirty="0"/>
              <a:t>Navigation bar is clearly defined as an independent UI component.   User attention is guided naturally to navigation options.</a:t>
            </a:r>
          </a:p>
          <a:p>
            <a:r>
              <a:rPr lang="en-US" b="1" dirty="0"/>
              <a:t>UI Consistency :</a:t>
            </a:r>
          </a:p>
          <a:p>
            <a:r>
              <a:rPr lang="en-US" dirty="0"/>
              <a:t> Navigation bar follows the same design language as cards and sections. </a:t>
            </a:r>
          </a:p>
          <a:p>
            <a:r>
              <a:rPr lang="en-US" dirty="0"/>
              <a:t>Consistent spacing and color usage across the screen.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865" y="1272569"/>
            <a:ext cx="5715000" cy="2727709"/>
          </a:xfrm>
        </p:spPr>
        <p:txBody>
          <a:bodyPr/>
          <a:lstStyle/>
          <a:p>
            <a:r>
              <a:rPr lang="en-US" sz="6000" dirty="0"/>
              <a:t>Thank you</a:t>
            </a:r>
            <a:br>
              <a:rPr lang="en-US" sz="6000" dirty="0"/>
            </a:b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{4E803FCA-30DA-4BD9-A13A-2ABA3E75BB25}TF8a9b5915-b8c7-461e-8cdd-693d48b5e32371f7b7e2_win32-4bf0b9a2ea37</Template>
  <TotalTime>151</TotalTime>
  <Words>1228</Words>
  <Application>Microsoft Office PowerPoint</Application>
  <PresentationFormat>Widescreen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Hci project</vt:lpstr>
      <vt:lpstr>team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karim arafat</dc:creator>
  <cp:lastModifiedBy>karim arafat</cp:lastModifiedBy>
  <cp:revision>2</cp:revision>
  <dcterms:created xsi:type="dcterms:W3CDTF">2025-12-19T17:10:58Z</dcterms:created>
  <dcterms:modified xsi:type="dcterms:W3CDTF">2025-12-19T19:42:00Z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